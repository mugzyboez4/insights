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 INSIGHTS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horsegiirL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743200" cy="36576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16,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Strategic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Use Only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THINGS TO KNOW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9436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16152"/>
            <a:ext cx="7863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is the engine. Early tracks (My Little White Pony, My Barn My Rules) are 2nd and 3rd most-streamed right now. New singles spike, catalog sustains.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is 35% of global — unusually high. US-first artist with strong European secondary markets (Germany, France, Poland, Denmark).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 trajectory accelerating: 18 streams (2022) → 186K (2026). Last three releases all opened above 100K.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718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signal: Dance/Electronic (idx 318) + Techno (idx 6,795). Fans Also Like: SOPHIE, A.G. Cook, Shygirl. Hyperpop/experimental.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4747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growing +180% YoY but engagement at 2.7% is far below benchmark. IG engagement at 10% is strong (+4.8 above).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ARTIST LEVEL STREAMS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318K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US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average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2024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C0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911K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554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Global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1460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average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92024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554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Share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29400" y="1097280"/>
            <a:ext cx="20574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170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15544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Peak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29400" y="1719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7/17/25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near-zero to 318K weekly US in four years.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moves in release-driven spikes that each establish a higher floor.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WoW jumps: MATERIAL HOR$E (+322K, Jan '25), SEASALT &amp; TEARDROPS (+171K, Aug '25), ONLY THE BEST (+177K, Feb '26). US share at 35% is unusually high for a developing artist.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1546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Commercial Partnerships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8368" y="33192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is doing heavy lifting between release spikes. My Little White Pony and My Barn My Rules (2022) are currently 2nd and 3rd most-streamed. Ensure catalog playlist positioning is maintained.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 DEBUTS — US ODA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0" y="1133856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1133856"/>
            <a:ext cx="4572000" cy="219456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8" name="Text 6"/>
          <p:cNvSpPr/>
          <p:nvPr/>
        </p:nvSpPr>
        <p:spPr>
          <a:xfrm>
            <a:off x="7571232" y="10972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SEASALT &amp; TEARDROPS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481328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481328"/>
            <a:ext cx="4203290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2" name="Text 10"/>
          <p:cNvSpPr/>
          <p:nvPr/>
        </p:nvSpPr>
        <p:spPr>
          <a:xfrm>
            <a:off x="7202522" y="14447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171K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7922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HOR$E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1828800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1828800"/>
            <a:ext cx="2900516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6" name="Text 14"/>
          <p:cNvSpPr/>
          <p:nvPr/>
        </p:nvSpPr>
        <p:spPr>
          <a:xfrm>
            <a:off x="5899748" y="179222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118K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1396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2176272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2176272"/>
            <a:ext cx="2556387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0" name="Text 18"/>
          <p:cNvSpPr/>
          <p:nvPr/>
        </p:nvSpPr>
        <p:spPr>
          <a:xfrm>
            <a:off x="5555619" y="213969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487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f0rbiidden l0ve$tory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2523744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2523744"/>
            <a:ext cx="2261419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4" name="Text 22"/>
          <p:cNvSpPr/>
          <p:nvPr/>
        </p:nvSpPr>
        <p:spPr>
          <a:xfrm>
            <a:off x="5260651" y="2487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8346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OFFFF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0" y="2871216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2871216"/>
            <a:ext cx="1278194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8" name="Text 26"/>
          <p:cNvSpPr/>
          <p:nvPr/>
        </p:nvSpPr>
        <p:spPr>
          <a:xfrm>
            <a:off x="4277426" y="283464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1821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eat, sleep, slay, 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3218688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2926080" y="3218688"/>
            <a:ext cx="1278194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2" name="Text 30"/>
          <p:cNvSpPr/>
          <p:nvPr/>
        </p:nvSpPr>
        <p:spPr>
          <a:xfrm>
            <a:off x="4277426" y="318211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5295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giirL math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0" y="3566160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3566160"/>
            <a:ext cx="1229032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6" name="Text 34"/>
          <p:cNvSpPr/>
          <p:nvPr/>
        </p:nvSpPr>
        <p:spPr>
          <a:xfrm>
            <a:off x="4228264" y="35295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38770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0" y="3913632"/>
            <a:ext cx="45720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6080" y="3913632"/>
            <a:ext cx="835742" cy="219456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40" name="Text 38"/>
          <p:cNvSpPr/>
          <p:nvPr/>
        </p:nvSpPr>
        <p:spPr>
          <a:xfrm>
            <a:off x="3834974" y="387705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 trajectory accelerating. Last three releases all opened above 100K — a new tier. From 18 streams (2022) to 186K (2026).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 SHARE (US)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69.0%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4813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24.2%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481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17739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4.9%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7739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0665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SoundCloud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2066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20665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Deezer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86000" y="2359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3591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Pandora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2651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651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Spotify-skewed (69%, idx 126). SoundCloud at 279 index despite tiny share — consistent with the hyperpop/electronic scene where SoundCloud remains a discovery platform. Apple under-indexes at 79. Pandora at idx 1 means this audience doesn't exist on lean-back radio.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F170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1546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QUESTION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Commercial Partnerships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58368" y="3319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SoundCloud at 279 index — is there a SoundCloud-specific strategy worth investing in? Early drops, exclusives, remixes?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AUDIENCE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1704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55.5%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1704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Britain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4264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4264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824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6824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68249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38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193852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9385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219456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1945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4505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2450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4505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27066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27066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6265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29626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29626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2186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32186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32186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4747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3474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4747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730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94560" y="37307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0" y="37307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1188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US-dominant at 55.5%. The international story is European electronic markets: Germany (145), France (148), Poland (167), Netherlands (155), Denmark (263). These are the countries where hyperpop/electronic has real infrastructure.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34290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International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58368" y="3593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electronic corridor (Germany, France, Poland, Netherlands, Denmark) is where international growth lives. Prioritize festival bookings (Primavera, Sonar, Dekmantel, Unsound) and European press.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MARKETS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1704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17.1%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11704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4264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4264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824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/ Oakland / San Jose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68249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68249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3852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19385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19385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Washington, DC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1945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1945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4505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Dallas-Ft. Worth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24505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24505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7066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27066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626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Seattle-Tacoma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29626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29626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2186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32186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2186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4747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34747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34747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(221), SF (186), NY (163) dominate. Seattle (128) over-indexes. Culturally forward coastal cities where electronic/hyperpop lives. Texas markets (Dallas 70, Houston 79) under-index.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37033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Marketing / Touring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58368" y="38679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live shows through LA, NY, SF, Chicago, and Seattle. Skip markets below 100 index before owning the core five.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DEMOGRAPHICS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STREAMING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28–34 core (34%, idx 170)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093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23–27: 29% (idx 100)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35–44: 20% (idx 128)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0848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13–17: 0% (idx 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44%F / 49%M — near even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65176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051560"/>
            <a:ext cx="54864" cy="228600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5BC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STREAMING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0" y="13716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28–34 core (31%, idx 158)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16093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23–27: 27% (idx 92)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8470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35–44: 21% (idx 139)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0848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45+: 13% (idx 127)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560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41%F / 53%M — slight male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65176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51560"/>
            <a:ext cx="54864" cy="228600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INSTAGRAM (LIKERS)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309360" y="13716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core (40%, idx 138)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16093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25–34: 45% (idx 103)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8470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13–17: 6% (idx 132)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2560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57%F / 43%M — flips female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28–34, slight male lean. Instagram flips younger (18–24) and more female (57%). The visual identity reaches a different audience than the music alone.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9776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Brand / Sync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8368" y="41422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audiences: streaming reaches 28–34 near-even gender. Social reaches 18–24 female. IG engagement at 10% (+4.8 above benchmark) is the headline stat for social deliverables.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GENRE PROFILE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4048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115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29.5%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1155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/ Electronic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8.4%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664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6,795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938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938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9.7%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938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Alternative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212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212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87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/ Hip-Hop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4871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4871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761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27614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614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035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0358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4.9%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0358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914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FANS ALSO LIKE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1161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MCR-T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Bashful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G. Cook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19293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1854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Slayyyter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1161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0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Shygirl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19293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Brutalismus 3000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0" y="21854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leads by share (29.5%) but the defining signals are Dance/Electronic (idx 318) and Techno (idx 6,795). Fans Also Like confirms: SOPHIE, A.G. Cook, Shygirl, Slayyyter, The Dare. Hyperpop/experimental electronic.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38862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Sync / Brand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58368" y="4050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editorial, fashion-forward, internet-culture. Runway shows, art-directed campaigns, gaming/VR. Think Ssense, Miu Miu territory — not Monster Energy.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25400">
            <a:solidFill>
              <a:srgbClr val="CDF8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&amp; CONTENT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280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28016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155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310K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03120" y="1371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+53% YoY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10.0% engagement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019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 above benchmark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114800" cy="1280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051560"/>
            <a:ext cx="54864" cy="1280160"/>
          </a:xfrm>
          <a:prstGeom prst="rect">
            <a:avLst/>
          </a:prstGeom>
          <a:solidFill>
            <a:srgbClr val="FF4A23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1155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TIKTOK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8348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401K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1371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+180% YoY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2.7% engagement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9019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-6.6 below benchmark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is growing nearly 4x faster than Instagram and has surpassed it in followers (401K vs 310K). But engagement tells a different story: IG at 10% is nearly double benchmark, while TikTok at 2.7% is less than a third. TikTok drives discovery; Instagram is where the relationship lives.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4290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Creative / Content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" y="3593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is the relationship platform — protect it. TikTok growth is real (+180%) but engagement at 2.7% means content isn't converting. Shift TikTok from growth-at-all-costs to personality-driven, scene-specific content.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horsegiirL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2743200" cy="36576"/>
          </a:xfrm>
          <a:prstGeom prst="rect">
            <a:avLst/>
          </a:prstGeom>
          <a:solidFill>
            <a:srgbClr val="3E3F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Insights — March 16,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Strategic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E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Luminate · Spotify Internal · Chartmetric · Internal Data Sources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Use Only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Artist Insights — horsegiirL — March 2026</dc:title>
  <dc:subject>PptxGenJS Presentation</dc:subject>
  <dc:creator>RCA Records</dc:creator>
  <cp:lastModifiedBy>RCA Records</cp:lastModifiedBy>
  <cp:revision>1</cp:revision>
  <dcterms:created xsi:type="dcterms:W3CDTF">2026-03-16T22:22:53Z</dcterms:created>
  <dcterms:modified xsi:type="dcterms:W3CDTF">2026-03-16T22:22:53Z</dcterms:modified>
</cp:coreProperties>
</file>