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INSIGHTS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CA7RIEL</a:t>
            </a:r>
            <a:pPr indent="0" marL="0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847D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&amp;
</a:t>
            </a:r>
            <a:pPr indent="0" marL="0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PACO AMOROSO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2743200" cy="36576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12,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 Hourihan  ·  Data: Jon Crawley / Strategic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89520" y="4297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27432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DF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THINGS TO KNOW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640080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216152"/>
            <a:ext cx="7863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performance is the US growth engine, not releases. Every streaming spike ties to a live moment. Build release timing around live tentpoles.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3891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single opens bigger than the last — 14K to 282K Week 1 US ODA in under two years.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43891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1460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251460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audiences, one act. Streaming: age 31, even gender. Instagram: age 27, 71% female.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8229600" cy="43891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1752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301752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over-indexes at 177. Apple under-indexes at 55. Someone should know why.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43891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2044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352044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engagement at 18.7% is exceptional. TikTok at 7.9% needs campaign content, not autopilot.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0" y="4617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27432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DF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ARTIST LEVEL STREAMS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04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6.8M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GLOBAL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4360" y="17647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average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56032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1704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4A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37560" y="1600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SHARE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337560" y="17647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weekly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0" y="1097280"/>
            <a:ext cx="274320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11704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C0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80760" y="16002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GLOBAL WEEK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080760" y="17647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"Papota" — Mar '25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streaming inflection point ties to a live moment: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Desk → Papota → Coachella → 5 Latin GRAMMYs → GIMME MORE → HASTA JESÚS. The pattern is consistent — live events are the catalyst, singles capture the momentum.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141F0A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017520"/>
            <a:ext cx="54864" cy="777240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6324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ACTION  </a:t>
            </a:r>
            <a:pPr indent="0" marL="0">
              <a:buNone/>
            </a:pPr>
            <a:r>
              <a:rPr lang="en-US" sz="7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Marketing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58368" y="322783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US single releases to land within 2 weeks of a live moment. The event creates search demand; the single captures it. Don't release into a vacuum — release into attention.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4617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27432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DF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1 DEBUTS — US ODA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DF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JESÚS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0" y="1133856"/>
            <a:ext cx="5029200" cy="2560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0" y="1133856"/>
            <a:ext cx="5029200" cy="256032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8" name="Text 6"/>
          <p:cNvSpPr/>
          <p:nvPr/>
        </p:nvSpPr>
        <p:spPr>
          <a:xfrm>
            <a:off x="8028432" y="1097280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282K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GIMME MORE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1517904"/>
            <a:ext cx="5029200" cy="2560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2926080" y="1517904"/>
            <a:ext cx="4708187" cy="256032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12" name="Text 10"/>
          <p:cNvSpPr/>
          <p:nvPr/>
        </p:nvSpPr>
        <p:spPr>
          <a:xfrm>
            <a:off x="7707419" y="148132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264K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86537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DÍA DEL AMIGO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1901952"/>
            <a:ext cx="5029200" cy="2560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0" y="1901952"/>
            <a:ext cx="2728609" cy="256032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16" name="Text 14"/>
          <p:cNvSpPr/>
          <p:nvPr/>
        </p:nvSpPr>
        <p:spPr>
          <a:xfrm>
            <a:off x="5727841" y="1865376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153K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24942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FORRO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2286000"/>
            <a:ext cx="5029200" cy="2560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2926080" y="2286000"/>
            <a:ext cx="2229255" cy="256032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20" name="Text 18"/>
          <p:cNvSpPr/>
          <p:nvPr/>
        </p:nvSpPr>
        <p:spPr>
          <a:xfrm>
            <a:off x="5228487" y="2249424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125K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63347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0" y="2670048"/>
            <a:ext cx="5029200" cy="2560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Shape 21"/>
          <p:cNvSpPr/>
          <p:nvPr/>
        </p:nvSpPr>
        <p:spPr>
          <a:xfrm>
            <a:off x="2926080" y="2670048"/>
            <a:ext cx="1961745" cy="256032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24" name="Text 22"/>
          <p:cNvSpPr/>
          <p:nvPr/>
        </p:nvSpPr>
        <p:spPr>
          <a:xfrm>
            <a:off x="4960977" y="2633472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01752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#TETAS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26080" y="3054096"/>
            <a:ext cx="5029200" cy="2560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Shape 25"/>
          <p:cNvSpPr/>
          <p:nvPr/>
        </p:nvSpPr>
        <p:spPr>
          <a:xfrm>
            <a:off x="2926080" y="3054096"/>
            <a:ext cx="1640732" cy="256032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28" name="Text 26"/>
          <p:cNvSpPr/>
          <p:nvPr/>
        </p:nvSpPr>
        <p:spPr>
          <a:xfrm>
            <a:off x="4639964" y="3017520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340156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DUMBAI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0" y="3438144"/>
            <a:ext cx="5029200" cy="2560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Shape 29"/>
          <p:cNvSpPr/>
          <p:nvPr/>
        </p:nvSpPr>
        <p:spPr>
          <a:xfrm>
            <a:off x="2926080" y="3438144"/>
            <a:ext cx="249677" cy="256032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32" name="Text 30"/>
          <p:cNvSpPr/>
          <p:nvPr/>
        </p:nvSpPr>
        <p:spPr>
          <a:xfrm>
            <a:off x="3248909" y="340156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20x increase in first-week US performance across less than two years. Every release cycle lands bigger.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4617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27432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DF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TINY DESK &amp; LATEST RELEASE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1463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463040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1155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DF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DESK CONCERT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58368" y="1325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47M views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8368" y="1783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 all-time · Most viewed in 6 years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standalone singles released → fed PAPOTA album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Playbook: live → recorded release → album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23360" cy="1463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051560"/>
            <a:ext cx="54864" cy="1463040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08" y="11155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JESÚS TUVO UN MAL DÍA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864608" y="1325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C0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282K W1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64608" y="1783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US debut to date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83K this week (-38% WoW) · 516K RTD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60% · Amazon 20% (idx 177) · Apple 16% (idx 55)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solidFill>
            <a:srgbClr val="1F1708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743200"/>
            <a:ext cx="54864" cy="73152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78892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QUESTION  </a:t>
            </a:r>
            <a:pPr indent="0" marL="0">
              <a:buNone/>
            </a:pPr>
            <a:r>
              <a:rPr lang="en-US" sz="7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Digital / DSP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58368" y="295351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driving Amazon at 177? Playlist, Alexa/Echo ambient, or algorithmic? Apple at 55 needs a specific conversation.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8229600" cy="777240"/>
          </a:xfrm>
          <a:prstGeom prst="rect">
            <a:avLst/>
          </a:prstGeom>
          <a:solidFill>
            <a:srgbClr val="141F0A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611880"/>
            <a:ext cx="54864" cy="777240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65760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ACTION  </a:t>
            </a:r>
            <a:pPr indent="0" marL="0">
              <a:buNone/>
            </a:pPr>
            <a:r>
              <a:rPr lang="en-US" sz="7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Marketing / A&amp;R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58368" y="382219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recorded-release strategy before the next high-profile performance. The live-to-single-to-album playbook is proven. Go in with a capture plan.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4617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27432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DF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 AUDIENCE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GENRES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754880" y="10241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LATIN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84048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234440"/>
            <a:ext cx="393192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984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12984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27.5%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0" y="1298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12984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12984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27.5%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23760" y="1298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4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1572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15727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20.9%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26080" y="15727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2,699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572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15727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20.9%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223760" y="15727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18470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18470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9.9%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26080" y="18470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4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18470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18470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9.9%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23760" y="18470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4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21214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11680" y="212140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8.7%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926080" y="21214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2,279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1214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12140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8.7%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23760" y="21214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23957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011680" y="23957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7.2%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926080" y="23957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1,151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23957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23957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7.2%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23760" y="23957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26700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011680" y="26700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5.6%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926080" y="26700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26700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9360" y="26700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5.6%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23760" y="26700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29443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011680" y="29443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926080" y="29443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477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54880" y="29443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09360" y="29443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23760" y="29443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 and South America are the strongholds. Mexico drops from 456 to 73 against Latin peers — a false positive. US at 42 is the clearest gap and upside.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solidFill>
            <a:srgbClr val="1F0E08"/>
          </a:solidFill>
          <a:ln/>
        </p:spPr>
      </p:sp>
      <p:sp>
        <p:nvSpPr>
          <p:cNvPr id="53" name="Shape 51"/>
          <p:cNvSpPr/>
          <p:nvPr/>
        </p:nvSpPr>
        <p:spPr>
          <a:xfrm>
            <a:off x="457200" y="3794760"/>
            <a:ext cx="54864" cy="594360"/>
          </a:xfrm>
          <a:prstGeom prst="rect">
            <a:avLst/>
          </a:prstGeom>
          <a:solidFill>
            <a:srgbClr val="FF4A23"/>
          </a:solidFill>
          <a:ln/>
        </p:spPr>
      </p:sp>
      <p:sp>
        <p:nvSpPr>
          <p:cNvPr id="54" name="Text 52"/>
          <p:cNvSpPr/>
          <p:nvPr/>
        </p:nvSpPr>
        <p:spPr>
          <a:xfrm>
            <a:off x="658368" y="3822192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4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FLAG: INTERNATIONAL  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58368" y="3977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Mexico: growth opportunity or identity ceiling? Spain at 111 Latin index could bridge LatAm and Europe. Both need specific conversations.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5720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RCA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315200" y="4617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27432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DF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 MARKETS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411480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77440" y="11704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16.0%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91840" y="117043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4264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142646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9.1%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142646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6824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0" y="168249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5.5%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68249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9385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/ Oakland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193852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91840" y="193852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1945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219456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5.0%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219456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4505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24505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91840" y="24505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Diego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77440" y="270662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2.8%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270662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29626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Antonio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77440" y="296265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91840" y="296265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2186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77440" y="321868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91840" y="321868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118872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Coastal, Latin-influenced cultural gateway cities.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 (289), San Diego (243), and LA (206) over-index hardest. These are the footholds — not random distribution.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141F0A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3657600"/>
            <a:ext cx="54864" cy="777240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370332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ACTION  </a:t>
            </a:r>
            <a:pPr indent="0" marL="0">
              <a:buNone/>
            </a:pPr>
            <a:r>
              <a:rPr lang="en-US" sz="7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Marketing / Touring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58368" y="386791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US headline or support tour through Miami, San Diego, LA, SF, and Austin first. Own the 5 cities where the audience exists before expanding.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0" y="4617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27432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DF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AUDIENCES, ONE ACT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2011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2011680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155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DF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STREAMING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31.2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47%F / 48%M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28–34 core (31%)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— Tiny Desk effect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1051560"/>
            <a:ext cx="2651760" cy="2011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1051560"/>
            <a:ext cx="54864" cy="2011680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1155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STREAMING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474720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BC0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30.0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474720" y="18288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474720" y="21031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44%F / 51%M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2331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23–27 core (30%)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2560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outside US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26480" y="1051560"/>
            <a:ext cx="2651760" cy="20116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1051560"/>
            <a:ext cx="54864" cy="201168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1155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309360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9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27.4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309360" y="18288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309360" y="21031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71%F / 29%M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331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18–34 core (78%)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2560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Dramatically different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music reaches one audience (30+, even gender). The visual/cultural identity reaches another (27, 71% female). Most artists skew one way. This is a rare two-for-one.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703320"/>
            <a:ext cx="8229600" cy="777240"/>
          </a:xfrm>
          <a:prstGeom prst="rect">
            <a:avLst/>
          </a:prstGeom>
          <a:solidFill>
            <a:srgbClr val="141F0A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703320"/>
            <a:ext cx="54864" cy="777240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374904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ACTION  </a:t>
            </a:r>
            <a:pPr indent="0" marL="0">
              <a:buNone/>
            </a:pPr>
            <a:r>
              <a:rPr lang="en-US" sz="7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Brand / Sync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58368" y="391363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brand partners on dual-audience positioning. Streaming = 25–34 Hispanic males. Social = 18–27 females in Latin alt/fashion. Lead with 18.7% IG engagement, not follower count.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4617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27432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DF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GENRE PROFILE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612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Alternative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0" y="11612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6.0%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0" y="11612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1,237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4356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Rock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43560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0" y="14356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1,073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7099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Pop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17099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5.5%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0" y="17099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19842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Urban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19842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6.9%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19842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258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 / Electronic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22585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22585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532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25328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8.2%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25328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8072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0" y="280720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16.1%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28072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0815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 / Hip-Hop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60320" y="30815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9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12.9%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3081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4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9144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ALSO LIKE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46320" y="11612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NATHY PELUSO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14173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AKRIILA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16733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rusowsky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192938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Dillom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218541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Trueno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11612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MAFIA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58000" y="14173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Milo j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58000" y="16733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Miko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58000" y="192938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Judeline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58000" y="218541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ROSALÍA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Alt (1,237 idx) and Latin Rock (1,073) are the defining signals. This audience isn't reggaeton — it cross-pollinates with Alternative, Dance/Electronic, and art-pop.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141F0A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3794760"/>
            <a:ext cx="54864" cy="777240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" y="384048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ACTION  </a:t>
            </a:r>
            <a:pPr indent="0" marL="0">
              <a:buNone/>
            </a:pPr>
            <a:r>
              <a:rPr lang="en-US" sz="7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Sync / Brand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58368" y="400507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leans toward high-energy, irreverent placements — sports, streetwear, gaming, action-comedy. Think Red Bull, Nike SB, brands that want cultural edge in Latin without defaulting to reggaeton.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RCA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15200" y="4617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27432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DF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&amp; CONTENT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920240" cy="1188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11556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66928" y="12984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6928" y="162763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DF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+154% YoY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81051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18.7% eng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1975104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+13.5 above bench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60320" y="1051560"/>
            <a:ext cx="1920240" cy="1188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2670048" y="111556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670048" y="12984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442K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70048" y="162763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DF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+202% YoY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70048" y="181051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A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7.9% eng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70048" y="1975104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-1.5 below bench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1920240" cy="1188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111556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773168" y="12984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755K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73168" y="162763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DF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+48% YoY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66560" y="1051560"/>
            <a:ext cx="1920240" cy="1188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6876288" y="111556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876288" y="12984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F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633K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76288" y="162763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DF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+139% YoY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423160"/>
            <a:ext cx="3977640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2423160"/>
            <a:ext cx="54864" cy="1051560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2487168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DF8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58368" y="26517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Pre-Feb: 2.5M avg views/Reel. Post-Feb: 1.7M avg.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again.. London show = 5.2M (top post).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228K avg likes. Engagement is extraordinary.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2423160"/>
            <a:ext cx="3977640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4709160" y="2423160"/>
            <a:ext cx="54864" cy="1051560"/>
          </a:xfrm>
          <a:prstGeom prst="rect">
            <a:avLst/>
          </a:prstGeom>
          <a:solidFill>
            <a:srgbClr val="FF4A23"/>
          </a:solidFill>
          <a:ln/>
        </p:spPr>
      </p:sp>
      <p:sp>
        <p:nvSpPr>
          <p:cNvPr id="31" name="Text 29"/>
          <p:cNvSpPr/>
          <p:nvPr/>
        </p:nvSpPr>
        <p:spPr>
          <a:xfrm>
            <a:off x="4910328" y="2487168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4A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910328" y="26517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Pre-Feb: 700K avg. Post-Feb: 1.4M — doubled.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spike around LIVE (3,500 post-Coachella)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releases (~500). Needs strategy, not autopilot.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141F0A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657600"/>
            <a:ext cx="54864" cy="777240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370332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DF8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ACTION  </a:t>
            </a:r>
            <a:pPr indent="0" marL="0">
              <a:buNone/>
            </a:pPr>
            <a:r>
              <a:rPr lang="en-US" sz="700" dirty="0">
                <a:solidFill>
                  <a:srgbClr val="847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Creative / Content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58368" y="386791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CF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is the relationship platform — protect it. TikTok needs campaign content around live moments, not autopilot. Prioritize collaborator footage (Fred again.. = top-performing).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617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0" y="4617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6350">
            <a:solidFill>
              <a:srgbClr val="3E3F41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CA7RIEL</a:t>
            </a:r>
            <a:pPr indent="0" marL="0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3E3F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&amp;
</a:t>
            </a:r>
            <a:pPr indent="0" marL="0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3E3F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PACO AMOROSO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2468880"/>
            <a:ext cx="2743200" cy="36576"/>
          </a:xfrm>
          <a:prstGeom prst="rect">
            <a:avLst/>
          </a:prstGeom>
          <a:solidFill>
            <a:srgbClr val="CDF85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A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Insights — March 12,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 Hourihan  ·  Data: Jon Crawley / Strategic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E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Luminate · Spotify Internal · Chartmetric · Internal Data Sources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7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Only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89520" y="4297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DF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Artist Insights — CA7RIEL &amp; Paco Amoroso — March 2026</dc:title>
  <dc:subject>PptxGenJS Presentation</dc:subject>
  <dc:creator>Meg Hourihan</dc:creator>
  <cp:lastModifiedBy>Meg Hourihan</cp:lastModifiedBy>
  <cp:revision>1</cp:revision>
  <dcterms:created xsi:type="dcterms:W3CDTF">2026-03-13T16:10:25Z</dcterms:created>
  <dcterms:modified xsi:type="dcterms:W3CDTF">2026-03-13T16:10:25Z</dcterms:modified>
</cp:coreProperties>
</file>